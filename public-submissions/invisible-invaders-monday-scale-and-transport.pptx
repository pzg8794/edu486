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claim_20260726_slide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claim_20260726_slide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https://www.epa.gov/water-research/microplastics-research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https://marinedebris.noaa.gov/what-marine-debris/microplastics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[/Sources]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Facilitation note: the line is intentionally labeled NOT TO SCALE. Do not ask youth to keep cutting until they fail.</a:t>
            </a:r>
            <a:endParaRPr/>
          </a:p>
        </p:txBody>
      </p:sp>
      <p:sp>
        <p:nvSpPr>
          <p:cNvPr id="14" name="Google Shape;14;claim_20260726_slide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https://www.epa.gov/water-research/microplastics-research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https://marinedebris.noaa.gov/what-marine-debris/microplastics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[/Sources]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Facilitation note: the line is intentionally labeled NOT TO SCALE. Do not ask youth to keep cutting until they fail.</a:t>
            </a:r>
            <a:endParaRPr/>
          </a:p>
        </p:txBody>
      </p:sp>
      <p:sp>
        <p:nvSpPr>
          <p:cNvPr id="28" name="Google Shape;28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" name="Google Shape;6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Aastha co-planning outline, July 26, 2026.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https://marinedebris.noaa.gov/what-marine-debris/microplastics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[/Sources]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Access note: use cardboard or a paper fan. Breath is optional, never required. Count every paper piece during cleanup.</a:t>
            </a:r>
            <a:endParaRPr/>
          </a:p>
        </p:txBody>
      </p:sp>
      <p:sp>
        <p:nvSpPr>
          <p:cNvPr id="65" name="Google Shape;6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beads_20260726_slide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beads_20260726_slide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beads_20260726_slide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2000" cy="203100"/>
          </a:xfrm>
          <a:prstGeom prst="rect">
            <a:avLst/>
          </a:prstGeom>
          <a:solidFill>
            <a:srgbClr val="D967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711200" y="419100"/>
            <a:ext cx="10769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D9670B"/>
                </a:solidFill>
              </a:rPr>
              <a:t>INVISIBLE INVADERS | SCIENTIST CIRCLE</a:t>
            </a:r>
            <a:endParaRPr b="1">
              <a:solidFill>
                <a:srgbClr val="D9670B"/>
              </a:solidFill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711200" y="927100"/>
            <a:ext cx="10769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6364F"/>
                </a:solidFill>
              </a:rPr>
              <a:t>Test the claim before we accept it</a:t>
            </a:r>
            <a:endParaRPr b="1" sz="3400">
              <a:solidFill>
                <a:srgbClr val="16364F"/>
              </a:solidFill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711200" y="1841500"/>
            <a:ext cx="10769700" cy="1625700"/>
          </a:xfrm>
          <a:prstGeom prst="roundRect">
            <a:avLst>
              <a:gd fmla="val 16667" name="adj"/>
            </a:avLst>
          </a:prstGeom>
          <a:solidFill>
            <a:srgbClr val="EAF4F8"/>
          </a:solidFill>
          <a:ln cap="flat" cmpd="sng" w="19050">
            <a:solidFill>
              <a:srgbClr val="2F7E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16364F"/>
                </a:solidFill>
              </a:rPr>
              <a:t>“All microplastics are invisible.”</a:t>
            </a:r>
            <a:endParaRPr b="1" sz="2900">
              <a:solidFill>
                <a:srgbClr val="16364F"/>
              </a:solidFill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11200" y="3835400"/>
            <a:ext cx="3302100" cy="888900"/>
          </a:xfrm>
          <a:prstGeom prst="roundRect">
            <a:avLst>
              <a:gd fmla="val 16667" name="adj"/>
            </a:avLst>
          </a:prstGeom>
          <a:solidFill>
            <a:srgbClr val="E6F5EA"/>
          </a:solidFill>
          <a:ln cap="flat" cmpd="sng" w="19050">
            <a:solidFill>
              <a:srgbClr val="3F9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256642"/>
                </a:solidFill>
              </a:rPr>
              <a:t>AGREE</a:t>
            </a:r>
            <a:endParaRPr b="1" sz="2200">
              <a:solidFill>
                <a:srgbClr val="256642"/>
              </a:solidFill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445000" y="3835400"/>
            <a:ext cx="3302100" cy="888900"/>
          </a:xfrm>
          <a:prstGeom prst="roundRect">
            <a:avLst>
              <a:gd fmla="val 16667" name="adj"/>
            </a:avLst>
          </a:prstGeom>
          <a:solidFill>
            <a:srgbClr val="FFF0E7"/>
          </a:solidFill>
          <a:ln cap="flat" cmpd="sng" w="19050">
            <a:solidFill>
              <a:srgbClr val="D967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8B3C05"/>
                </a:solidFill>
              </a:rPr>
              <a:t>DISAGREE</a:t>
            </a:r>
            <a:endParaRPr b="1" sz="2200">
              <a:solidFill>
                <a:srgbClr val="8B3C05"/>
              </a:solidFill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178800" y="3835400"/>
            <a:ext cx="3302100" cy="888900"/>
          </a:xfrm>
          <a:prstGeom prst="roundRect">
            <a:avLst>
              <a:gd fmla="val 16667" name="adj"/>
            </a:avLst>
          </a:prstGeom>
          <a:solidFill>
            <a:srgbClr val="F3F1FA"/>
          </a:solidFill>
          <a:ln cap="flat" cmpd="sng" w="1905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0366E"/>
                </a:solidFill>
              </a:rPr>
              <a:t>NOT SURE YET</a:t>
            </a:r>
            <a:endParaRPr b="1" sz="2200">
              <a:solidFill>
                <a:srgbClr val="50366E"/>
              </a:solidFill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711200" y="5130800"/>
            <a:ext cx="10769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6364F"/>
                </a:solidFill>
              </a:rPr>
              <a:t>What evidence would help us decide?</a:t>
            </a:r>
            <a:endParaRPr b="1" sz="2400">
              <a:solidFill>
                <a:srgbClr val="16364F"/>
              </a:solidFill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711200" y="5943600"/>
            <a:ext cx="107697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16470"/>
                </a:solidFill>
              </a:rPr>
              <a:t>Choose by speaking, pointing, moving a marker, or asking to pass and return.</a:t>
            </a:r>
            <a:endParaRPr sz="1500">
              <a:solidFill>
                <a:srgbClr val="51647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D9670B"/>
          </a:solidFill>
          <a:ln cap="flat" cmpd="sng" w="9525">
            <a:solidFill>
              <a:srgbClr val="D967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609600" y="342900"/>
            <a:ext cx="109728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D9670B"/>
                </a:solidFill>
                <a:latin typeface="Arial"/>
                <a:ea typeface="Arial"/>
                <a:cs typeface="Arial"/>
                <a:sym typeface="Arial"/>
              </a:rPr>
              <a:t>INVISIBLE INVADERS | IMPOSSIBLE CUT</a:t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609600" y="723900"/>
            <a:ext cx="109728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Microplastics are smaller than 5 millimeters</a:t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647700" y="1466850"/>
            <a:ext cx="108966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5">
                <a:solidFill>
                  <a:srgbClr val="516471"/>
                </a:solidFill>
                <a:latin typeface="Arial"/>
                <a:ea typeface="Arial"/>
                <a:cs typeface="Arial"/>
                <a:sym typeface="Arial"/>
              </a:rPr>
              <a:t>Our classroom tools can show some sizes. Smaller scales require different tools.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6667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E3F1F8"/>
          </a:solidFill>
          <a:ln cap="flat" cmpd="sng" w="19050">
            <a:solidFill>
              <a:srgbClr val="2F7E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7620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2F7EAA"/>
                </a:solidFill>
                <a:latin typeface="Arial"/>
                <a:ea typeface="Arial"/>
                <a:cs typeface="Arial"/>
                <a:sym typeface="Arial"/>
              </a:rPr>
              <a:t>1 m</a:t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7620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meter</a:t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25336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E5F4EA"/>
          </a:solidFill>
          <a:ln cap="flat" cmpd="sng" w="19050">
            <a:solidFill>
              <a:srgbClr val="3F9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26289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3F9968"/>
                </a:solidFill>
                <a:latin typeface="Arial"/>
                <a:ea typeface="Arial"/>
                <a:cs typeface="Arial"/>
                <a:sym typeface="Arial"/>
              </a:rPr>
              <a:t>10 cm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26289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centimeter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44005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FFF4CF"/>
          </a:solidFill>
          <a:ln cap="flat" cmpd="sng" w="19050">
            <a:solidFill>
              <a:srgbClr val="E9B9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44958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E9B936"/>
                </a:solidFill>
                <a:latin typeface="Arial"/>
                <a:ea typeface="Arial"/>
                <a:cs typeface="Arial"/>
                <a:sym typeface="Arial"/>
              </a:rPr>
              <a:t>1 cm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4958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centimeter</a:t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2674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FFF3E8"/>
          </a:solidFill>
          <a:ln cap="flat" cmpd="sng" w="19050">
            <a:solidFill>
              <a:srgbClr val="D967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63627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D9670B"/>
                </a:solidFill>
                <a:latin typeface="Arial"/>
                <a:ea typeface="Arial"/>
                <a:cs typeface="Arial"/>
                <a:sym typeface="Arial"/>
              </a:rPr>
              <a:t>5 mm</a:t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63627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microplastic boundary</a:t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81343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FBE8E9"/>
          </a:solidFill>
          <a:ln cap="flat" cmpd="sng" w="19050">
            <a:solidFill>
              <a:srgbClr val="C94D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82296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C94D52"/>
                </a:solidFill>
                <a:latin typeface="Arial"/>
                <a:ea typeface="Arial"/>
                <a:cs typeface="Arial"/>
                <a:sym typeface="Arial"/>
              </a:rPr>
              <a:t>1 mm</a:t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82296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millimeter</a:t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10001250" y="2524125"/>
            <a:ext cx="1619250" cy="1428750"/>
          </a:xfrm>
          <a:prstGeom prst="roundRect">
            <a:avLst>
              <a:gd fmla="val 5333" name="adj"/>
            </a:avLst>
          </a:prstGeom>
          <a:solidFill>
            <a:srgbClr val="F0E9F7"/>
          </a:solidFill>
          <a:ln cap="flat" cmpd="sng" w="19050">
            <a:solidFill>
              <a:srgbClr val="7850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10096500" y="2705100"/>
            <a:ext cx="14287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7850A1"/>
                </a:solidFill>
                <a:latin typeface="Arial"/>
                <a:ea typeface="Arial"/>
                <a:cs typeface="Arial"/>
                <a:sym typeface="Arial"/>
              </a:rPr>
              <a:t>1 µm</a:t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10096500" y="3276600"/>
            <a:ext cx="14287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micrometer</a:t>
            </a:r>
            <a:endParaRPr/>
          </a:p>
        </p:txBody>
      </p:sp>
      <p:cxnSp>
        <p:nvCxnSpPr>
          <p:cNvPr id="52" name="Google Shape;52;p4"/>
          <p:cNvCxnSpPr>
            <a:stCxn id="34" idx="3"/>
            <a:endCxn id="37" idx="1"/>
          </p:cNvCxnSpPr>
          <p:nvPr/>
        </p:nvCxnSpPr>
        <p:spPr>
          <a:xfrm>
            <a:off x="2286000" y="3238500"/>
            <a:ext cx="247800" cy="0"/>
          </a:xfrm>
          <a:prstGeom prst="straightConnector1">
            <a:avLst/>
          </a:prstGeom>
          <a:noFill/>
          <a:ln cap="flat" cmpd="sng" w="19050">
            <a:solidFill>
              <a:srgbClr val="51647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53" name="Google Shape;53;p4"/>
          <p:cNvCxnSpPr>
            <a:stCxn id="37" idx="3"/>
            <a:endCxn id="40" idx="1"/>
          </p:cNvCxnSpPr>
          <p:nvPr/>
        </p:nvCxnSpPr>
        <p:spPr>
          <a:xfrm>
            <a:off x="4152900" y="3238500"/>
            <a:ext cx="247800" cy="0"/>
          </a:xfrm>
          <a:prstGeom prst="straightConnector1">
            <a:avLst/>
          </a:prstGeom>
          <a:noFill/>
          <a:ln cap="flat" cmpd="sng" w="19050">
            <a:solidFill>
              <a:srgbClr val="51647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54" name="Google Shape;54;p4"/>
          <p:cNvCxnSpPr>
            <a:stCxn id="40" idx="3"/>
            <a:endCxn id="43" idx="1"/>
          </p:cNvCxnSpPr>
          <p:nvPr/>
        </p:nvCxnSpPr>
        <p:spPr>
          <a:xfrm>
            <a:off x="6019800" y="3238500"/>
            <a:ext cx="247800" cy="0"/>
          </a:xfrm>
          <a:prstGeom prst="straightConnector1">
            <a:avLst/>
          </a:prstGeom>
          <a:noFill/>
          <a:ln cap="flat" cmpd="sng" w="19050">
            <a:solidFill>
              <a:srgbClr val="51647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55" name="Google Shape;55;p4"/>
          <p:cNvCxnSpPr>
            <a:stCxn id="43" idx="3"/>
            <a:endCxn id="46" idx="1"/>
          </p:cNvCxnSpPr>
          <p:nvPr/>
        </p:nvCxnSpPr>
        <p:spPr>
          <a:xfrm>
            <a:off x="7886700" y="3238500"/>
            <a:ext cx="247800" cy="0"/>
          </a:xfrm>
          <a:prstGeom prst="straightConnector1">
            <a:avLst/>
          </a:prstGeom>
          <a:noFill/>
          <a:ln cap="flat" cmpd="sng" w="19050">
            <a:solidFill>
              <a:srgbClr val="516471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56" name="Google Shape;56;p4"/>
          <p:cNvCxnSpPr>
            <a:stCxn id="46" idx="3"/>
            <a:endCxn id="49" idx="1"/>
          </p:cNvCxnSpPr>
          <p:nvPr/>
        </p:nvCxnSpPr>
        <p:spPr>
          <a:xfrm>
            <a:off x="9753600" y="3238500"/>
            <a:ext cx="247800" cy="0"/>
          </a:xfrm>
          <a:prstGeom prst="straightConnector1">
            <a:avLst/>
          </a:prstGeom>
          <a:noFill/>
          <a:ln cap="flat" cmpd="sng" w="19050">
            <a:solidFill>
              <a:srgbClr val="516471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57" name="Google Shape;57;p4"/>
          <p:cNvSpPr/>
          <p:nvPr/>
        </p:nvSpPr>
        <p:spPr>
          <a:xfrm>
            <a:off x="666750" y="4095750"/>
            <a:ext cx="1714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16471"/>
                </a:solidFill>
                <a:latin typeface="Arial"/>
                <a:ea typeface="Arial"/>
                <a:cs typeface="Arial"/>
                <a:sym typeface="Arial"/>
              </a:rPr>
              <a:t>NOT TO SCALE</a:t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666750" y="4524375"/>
            <a:ext cx="10858500" cy="781050"/>
          </a:xfrm>
          <a:prstGeom prst="roundRect">
            <a:avLst>
              <a:gd fmla="val 9756" name="adj"/>
            </a:avLst>
          </a:prstGeom>
          <a:solidFill>
            <a:srgbClr val="E5F4EA"/>
          </a:solidFill>
          <a:ln cap="flat" cmpd="sng" w="19050">
            <a:solidFill>
              <a:srgbClr val="3F9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904875" y="4657725"/>
            <a:ext cx="103822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11">
                <a:solidFill>
                  <a:srgbClr val="3F9968"/>
                </a:solidFill>
                <a:latin typeface="Arial"/>
                <a:ea typeface="Arial"/>
                <a:cs typeface="Arial"/>
                <a:sym typeface="Arial"/>
              </a:rPr>
              <a:t>Some microplastics are visible. Others need magnification or laboratory instruments.</a:t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666750" y="5562600"/>
            <a:ext cx="10858500" cy="781050"/>
          </a:xfrm>
          <a:prstGeom prst="roundRect">
            <a:avLst>
              <a:gd fmla="val 9756" name="adj"/>
            </a:avLst>
          </a:prstGeom>
          <a:solidFill>
            <a:srgbClr val="E3F1F8"/>
          </a:solidFill>
          <a:ln cap="flat" cmpd="sng" w="19050">
            <a:solidFill>
              <a:srgbClr val="2F7E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904875" y="5695950"/>
            <a:ext cx="103822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What becomes harder to measure or notice as the scale gets smaller?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D9670B"/>
          </a:solidFill>
          <a:ln cap="flat" cmpd="sng" w="9525">
            <a:solidFill>
              <a:srgbClr val="D967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609600" y="342900"/>
            <a:ext cx="109728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D9670B"/>
                </a:solidFill>
                <a:latin typeface="Arial"/>
                <a:ea typeface="Arial"/>
                <a:cs typeface="Arial"/>
                <a:sym typeface="Arial"/>
              </a:rPr>
              <a:t>INVISIBLE INVADERS | ESCAPE THE WIND</a:t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09600" y="723900"/>
            <a:ext cx="109728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Moving air can carry lightweight pieces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647700" y="1466850"/>
            <a:ext cx="108966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5">
                <a:solidFill>
                  <a:srgbClr val="516471"/>
                </a:solidFill>
                <a:latin typeface="Arial"/>
                <a:ea typeface="Arial"/>
                <a:cs typeface="Arial"/>
                <a:sym typeface="Arial"/>
              </a:rPr>
              <a:t>Move at least half of the paper pieces across the boundary without touching them with your hands.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857250" y="2571750"/>
            <a:ext cx="2381250" cy="1524000"/>
          </a:xfrm>
          <a:prstGeom prst="roundRect">
            <a:avLst>
              <a:gd fmla="val 5000" name="adj"/>
            </a:avLst>
          </a:prstGeom>
          <a:solidFill>
            <a:srgbClr val="F0E9F7"/>
          </a:solidFill>
          <a:ln cap="flat" cmpd="sng" w="19050">
            <a:solidFill>
              <a:srgbClr val="7850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4905375" y="2571750"/>
            <a:ext cx="2381250" cy="1524000"/>
          </a:xfrm>
          <a:prstGeom prst="roundRect">
            <a:avLst>
              <a:gd fmla="val 5000" name="adj"/>
            </a:avLst>
          </a:prstGeom>
          <a:solidFill>
            <a:srgbClr val="E3F1F8"/>
          </a:solidFill>
          <a:ln cap="flat" cmpd="sng" w="19050">
            <a:solidFill>
              <a:srgbClr val="2F7E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8953500" y="2571750"/>
            <a:ext cx="2381250" cy="1524000"/>
          </a:xfrm>
          <a:prstGeom prst="roundRect">
            <a:avLst>
              <a:gd fmla="val 5000" name="adj"/>
            </a:avLst>
          </a:prstGeom>
          <a:solidFill>
            <a:srgbClr val="FFF4CF"/>
          </a:solidFill>
          <a:ln cap="flat" cmpd="sng" w="19050">
            <a:solidFill>
              <a:srgbClr val="E9B9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4" name="Google Shape;74;p5"/>
          <p:cNvCxnSpPr>
            <a:stCxn id="71" idx="3"/>
            <a:endCxn id="72" idx="1"/>
          </p:cNvCxnSpPr>
          <p:nvPr/>
        </p:nvCxnSpPr>
        <p:spPr>
          <a:xfrm>
            <a:off x="3238500" y="3333750"/>
            <a:ext cx="1666800" cy="0"/>
          </a:xfrm>
          <a:prstGeom prst="straightConnector1">
            <a:avLst/>
          </a:prstGeom>
          <a:noFill/>
          <a:ln cap="flat" cmpd="sng" w="57150">
            <a:solidFill>
              <a:srgbClr val="7850A1"/>
            </a:solidFill>
            <a:prstDash val="solid"/>
            <a:round/>
            <a:headEnd len="sm" w="sm" type="none"/>
            <a:tailEnd len="lg" w="lg" type="stealth"/>
          </a:ln>
        </p:spPr>
      </p:cxnSp>
      <p:cxnSp>
        <p:nvCxnSpPr>
          <p:cNvPr id="75" name="Google Shape;75;p5"/>
          <p:cNvCxnSpPr>
            <a:stCxn id="72" idx="3"/>
            <a:endCxn id="73" idx="1"/>
          </p:cNvCxnSpPr>
          <p:nvPr/>
        </p:nvCxnSpPr>
        <p:spPr>
          <a:xfrm>
            <a:off x="7286625" y="3333750"/>
            <a:ext cx="1666800" cy="0"/>
          </a:xfrm>
          <a:prstGeom prst="straightConnector1">
            <a:avLst/>
          </a:prstGeom>
          <a:noFill/>
          <a:ln cap="flat" cmpd="sng" w="57150">
            <a:solidFill>
              <a:srgbClr val="2F7EAA"/>
            </a:solidFill>
            <a:prstDash val="solid"/>
            <a:round/>
            <a:headEnd len="sm" w="sm" type="none"/>
            <a:tailEnd len="lg" w="lg" type="stealth"/>
          </a:ln>
        </p:spPr>
      </p:cxnSp>
      <p:sp>
        <p:nvSpPr>
          <p:cNvPr id="76" name="Google Shape;76;p5"/>
          <p:cNvSpPr/>
          <p:nvPr/>
        </p:nvSpPr>
        <p:spPr>
          <a:xfrm>
            <a:off x="1047750" y="2857500"/>
            <a:ext cx="200025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7850A1"/>
                </a:solidFill>
                <a:latin typeface="Arial"/>
                <a:ea typeface="Arial"/>
                <a:cs typeface="Arial"/>
                <a:sym typeface="Arial"/>
              </a:rPr>
              <a:t>CARDBOARD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7850A1"/>
                </a:solidFill>
                <a:latin typeface="Arial"/>
                <a:ea typeface="Arial"/>
                <a:cs typeface="Arial"/>
                <a:sym typeface="Arial"/>
              </a:rPr>
              <a:t>OR PAPER FAN</a:t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5095875" y="2857500"/>
            <a:ext cx="200025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2F7EAA"/>
                </a:solidFill>
                <a:latin typeface="Arial"/>
                <a:ea typeface="Arial"/>
                <a:cs typeface="Arial"/>
                <a:sym typeface="Arial"/>
              </a:rPr>
              <a:t>MOVING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2F7EAA"/>
                </a:solidFill>
                <a:latin typeface="Arial"/>
                <a:ea typeface="Arial"/>
                <a:cs typeface="Arial"/>
                <a:sym typeface="Arial"/>
              </a:rPr>
              <a:t>AIR</a:t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9144000" y="2857500"/>
            <a:ext cx="200025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9A7200"/>
                </a:solidFill>
                <a:latin typeface="Arial"/>
                <a:ea typeface="Arial"/>
                <a:cs typeface="Arial"/>
                <a:sym typeface="Arial"/>
              </a:rPr>
              <a:t>LIGHTWEIGHT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9A7200"/>
                </a:solidFill>
                <a:latin typeface="Arial"/>
                <a:ea typeface="Arial"/>
                <a:cs typeface="Arial"/>
                <a:sym typeface="Arial"/>
              </a:rPr>
              <a:t>PAPER PROXIES</a:t>
            </a: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857250" y="4572000"/>
            <a:ext cx="10477500" cy="685800"/>
          </a:xfrm>
          <a:prstGeom prst="roundRect">
            <a:avLst>
              <a:gd fmla="val 11111" name="adj"/>
            </a:avLst>
          </a:prstGeom>
          <a:solidFill>
            <a:srgbClr val="FBE8E9"/>
          </a:solidFill>
          <a:ln cap="flat" cmpd="sng" w="19050">
            <a:solidFill>
              <a:srgbClr val="C94D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1066800" y="46863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C94D52"/>
                </a:solidFill>
                <a:latin typeface="Arial"/>
                <a:ea typeface="Arial"/>
                <a:cs typeface="Arial"/>
                <a:sym typeface="Arial"/>
              </a:rPr>
              <a:t>The paper pieces are a transport model. They are not microplastic evidence.</a:t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857250" y="5543550"/>
            <a:ext cx="10477500" cy="781050"/>
          </a:xfrm>
          <a:prstGeom prst="roundRect">
            <a:avLst>
              <a:gd fmla="val 9756" name="adj"/>
            </a:avLst>
          </a:prstGeom>
          <a:solidFill>
            <a:srgbClr val="E5F4EA"/>
          </a:solidFill>
          <a:ln cap="flat" cmpd="sng" w="19050">
            <a:solidFill>
              <a:srgbClr val="3F9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1066800" y="5676900"/>
            <a:ext cx="100584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16364F"/>
                </a:solidFill>
                <a:latin typeface="Arial"/>
                <a:ea typeface="Arial"/>
                <a:cs typeface="Arial"/>
                <a:sym typeface="Arial"/>
              </a:rPr>
              <a:t>If moving air can carry lightweight pieces, what might moving water do?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"/>
          <p:cNvSpPr/>
          <p:nvPr/>
        </p:nvSpPr>
        <p:spPr>
          <a:xfrm>
            <a:off x="0" y="0"/>
            <a:ext cx="12192000" cy="174900"/>
          </a:xfrm>
          <a:prstGeom prst="rect">
            <a:avLst/>
          </a:prstGeom>
          <a:solidFill>
            <a:srgbClr val="D967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 txBox="1"/>
          <p:nvPr/>
        </p:nvSpPr>
        <p:spPr>
          <a:xfrm>
            <a:off x="610000" y="290000"/>
            <a:ext cx="109701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D9670B"/>
                </a:solidFill>
              </a:rPr>
              <a:t>INVISIBLE INVADERS | IDENTI-BEADS</a:t>
            </a:r>
            <a:endParaRPr b="1">
              <a:solidFill>
                <a:srgbClr val="D9670B"/>
              </a:solidFill>
            </a:endParaRPr>
          </a:p>
        </p:txBody>
      </p:sp>
      <p:sp>
        <p:nvSpPr>
          <p:cNvPr id="90" name="Google Shape;90;p6"/>
          <p:cNvSpPr txBox="1"/>
          <p:nvPr/>
        </p:nvSpPr>
        <p:spPr>
          <a:xfrm>
            <a:off x="610000" y="680000"/>
            <a:ext cx="109701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16364F"/>
                </a:solidFill>
              </a:rPr>
              <a:t>How did I show up as a STEM person today?</a:t>
            </a:r>
            <a:endParaRPr b="1" sz="3100">
              <a:solidFill>
                <a:srgbClr val="16364F"/>
              </a:solidFill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610000" y="1290000"/>
            <a:ext cx="10970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516471"/>
                </a:solidFill>
              </a:rPr>
              <a:t>Choose 0, 1, or more. Every choice is equal, and your choice can change.</a:t>
            </a:r>
            <a:endParaRPr sz="1600">
              <a:solidFill>
                <a:srgbClr val="516471"/>
              </a:solidFill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610000" y="183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2F7E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</a:rPr>
              <a:t>BLUE | INVESTIGATOR</a:t>
            </a:r>
            <a:endParaRPr b="1" sz="2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noticed, asked, compared,</a:t>
            </a:r>
            <a:endParaRPr sz="17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or gathered evidence</a:t>
            </a:r>
            <a:endParaRPr sz="1700">
              <a:solidFill>
                <a:srgbClr val="FFFFFF"/>
              </a:solidFill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4370000" y="183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3F99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</a:rPr>
              <a:t>GREEN | CONNECTOR</a:t>
            </a:r>
            <a:endParaRPr b="1" sz="2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linked ideas or helped</a:t>
            </a:r>
            <a:endParaRPr sz="17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someone participate</a:t>
            </a:r>
            <a:endParaRPr sz="1700">
              <a:solidFill>
                <a:srgbClr val="FFFFFF"/>
              </a:solidFill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130000" y="183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D967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</a:rPr>
              <a:t>ORANGE | ENVIRONMENTAL</a:t>
            </a:r>
            <a:endParaRPr b="1" sz="18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</a:rPr>
              <a:t>ADVOCATE</a:t>
            </a:r>
            <a:endParaRPr b="1" sz="18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FFFFFF"/>
                </a:solidFill>
              </a:rPr>
              <a:t>people, places, responsibility,</a:t>
            </a:r>
            <a:endParaRPr sz="155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FFFFFF"/>
                </a:solidFill>
              </a:rPr>
              <a:t>or fair change</a:t>
            </a:r>
            <a:endParaRPr sz="1550">
              <a:solidFill>
                <a:srgbClr val="FFFFFF"/>
              </a:solidFill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610000" y="367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C44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</a:rPr>
              <a:t>PINK | CREATIVE</a:t>
            </a:r>
            <a:endParaRPr b="1" sz="2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drew, modeled, designed,</a:t>
            </a:r>
            <a:endParaRPr sz="17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or communicated</a:t>
            </a:r>
            <a:endParaRPr sz="1700">
              <a:solidFill>
                <a:srgbClr val="FFFFFF"/>
              </a:solidFill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4370000" y="367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F2C5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364F"/>
                </a:solidFill>
              </a:rPr>
              <a:t>YELLOW | CULTIVATOR</a:t>
            </a:r>
            <a:endParaRPr b="1" sz="1800">
              <a:solidFill>
                <a:srgbClr val="16364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364F"/>
                </a:solidFill>
              </a:rPr>
              <a:t>OF JOY</a:t>
            </a:r>
            <a:endParaRPr b="1" sz="1800">
              <a:solidFill>
                <a:srgbClr val="16364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16364F"/>
                </a:solidFill>
              </a:rPr>
              <a:t>curiosity, welcome, courage,</a:t>
            </a:r>
            <a:endParaRPr sz="1550">
              <a:solidFill>
                <a:srgbClr val="16364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16364F"/>
                </a:solidFill>
              </a:rPr>
              <a:t>or helping the group keep trying</a:t>
            </a:r>
            <a:endParaRPr sz="1550">
              <a:solidFill>
                <a:srgbClr val="16364F"/>
              </a:solidFill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8130000" y="3670000"/>
            <a:ext cx="3450000" cy="1509900"/>
          </a:xfrm>
          <a:prstGeom prst="roundRect">
            <a:avLst>
              <a:gd fmla="val 16667" name="adj"/>
            </a:avLst>
          </a:prstGeom>
          <a:solidFill>
            <a:srgbClr val="7850A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</a:rPr>
              <a:t>PURPLE | YOUR CHOICE</a:t>
            </a:r>
            <a:endParaRPr b="1" sz="2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name another meaningful way</a:t>
            </a:r>
            <a:endParaRPr sz="17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</a:rPr>
              <a:t>you participated</a:t>
            </a:r>
            <a:endParaRPr sz="1700">
              <a:solidFill>
                <a:srgbClr val="FFFFFF"/>
              </a:solidFill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610000" y="5510000"/>
            <a:ext cx="10970100" cy="900000"/>
          </a:xfrm>
          <a:prstGeom prst="roundRect">
            <a:avLst>
              <a:gd fmla="val 16667" name="adj"/>
            </a:avLst>
          </a:prstGeom>
          <a:solidFill>
            <a:srgbClr val="DDE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6364F"/>
                </a:solidFill>
              </a:rPr>
              <a:t>SHARE, POINT, CHOOSE PRIVATELY, PASS, OR RETURN.</a:t>
            </a:r>
            <a:endParaRPr b="1" sz="1700">
              <a:solidFill>
                <a:srgbClr val="16364F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6364F"/>
                </a:solidFill>
              </a:rPr>
              <a:t>The bead belongs to you. No explanation is required.</a:t>
            </a:r>
            <a:endParaRPr b="1" sz="1700">
              <a:solidFill>
                <a:srgbClr val="16364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