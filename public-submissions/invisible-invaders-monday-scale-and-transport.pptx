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7a394c45084ca4" /><Relationship Type="http://schemas.openxmlformats.org/officeDocument/2006/relationships/extended-properties" Target="/docProps/app.xml" Id="Rd6f787d7e1cf479b" /><Relationship Type="http://schemas.openxmlformats.org/officeDocument/2006/relationships/officeDocument" Target="/ppt/presentation.xml" Id="R2f8662dc9bec48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7c45efb402479a"/>
  </p:sldMasterIdLst>
  <p:notesMasterIdLst>
    <p:notesMasterId xmlns:r="http://schemas.openxmlformats.org/officeDocument/2006/relationships" r:id="R2d9d65f1800040e5"/>
  </p:notesMasterIdLst>
  <p:sldIdLst>
    <p:sldId xmlns:r="http://schemas.openxmlformats.org/officeDocument/2006/relationships" id="256" r:id="Rb8f25d2c2b6f4ca4"/>
    <p:sldId xmlns:r="http://schemas.openxmlformats.org/officeDocument/2006/relationships" id="257" r:id="R3a41a5e3b09b4317"/>
    <p:sldId xmlns:r="http://schemas.openxmlformats.org/officeDocument/2006/relationships" id="258" r:id="Rd2906e2dc1d6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c8a5b5f944def" /><Relationship Type="http://schemas.openxmlformats.org/officeDocument/2006/relationships/slideMaster" Target="/ppt/slideMasters/slideMaster1.xml" Id="R337c45efb402479a" /><Relationship Type="http://schemas.openxmlformats.org/officeDocument/2006/relationships/notesMaster" Target="/ppt/notesMasters/notesMaster1.xml" Id="R2d9d65f1800040e5" /><Relationship Type="http://schemas.openxmlformats.org/officeDocument/2006/relationships/presProps" Target="/ppt/presProps.xml" Id="R2b73881ec7aa4e42" /><Relationship Type="http://schemas.openxmlformats.org/officeDocument/2006/relationships/tableStyles" Target="/ppt/tableStyles.xml" Id="R9c2f62c875ad4dc8" /><Relationship Type="http://schemas.openxmlformats.org/officeDocument/2006/relationships/slide" Target="/ppt/slides/slide1.xml" Id="Rb8f25d2c2b6f4ca4" /><Relationship Type="http://schemas.openxmlformats.org/officeDocument/2006/relationships/slide" Target="/ppt/slides/slide2.xml" Id="R3a41a5e3b09b4317" /><Relationship Type="http://schemas.openxmlformats.org/officeDocument/2006/relationships/slide" Target="/ppt/slides/slide3.xml" Id="Rd2906e2dc1d6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383ade6b184f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ad25cb5bb4d6d" /><Relationship Type="http://schemas.openxmlformats.org/officeDocument/2006/relationships/notesMaster" Target="/ppt/notesMasters/notesMaster1.xml" Id="Rbcb13b69cfba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eff3bf1524cf7" /><Relationship Type="http://schemas.openxmlformats.org/officeDocument/2006/relationships/notesMaster" Target="/ppt/notesMasters/notesMaster1.xml" Id="R1b07338606a0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2d8ae8c4f74e67" /><Relationship Type="http://schemas.openxmlformats.org/officeDocument/2006/relationships/notesMaster" Target="/ppt/notesMasters/notesMaster1.xml" Id="Rda181499f59748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intentionally inaccurate claim for students to evaluate. Record an initial position without ranking it, then return after the scale evidence. Accept speaking, pointing, moving a marker, partner response, not sure, pass, and return.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https://www.epa.gov/water-research/microplastics-research</a:t>
            </a:r>
          </a:p>
          <a:p xmlns:a="http://schemas.openxmlformats.org/drawingml/2006/main">
            <a:r>
              <a:t>https://marinedebris.noaa.gov/what-marine-debris/microplastics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 note: the line is intentionally labeled NOT TO SCALE. Do not ask youth to keep cutting until they fail.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Aastha co-planning outline, July 26, 2026.</a:t>
            </a:r>
          </a:p>
          <a:p xmlns:a="http://schemas.openxmlformats.org/drawingml/2006/main">
            <a:r>
              <a:t>https://marinedebris.noaa.gov/what-marine-debris/microplastics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Access note: use cardboard or a paper fan. Breath is optional, never required. Count every paper piece during cleanup.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ce7ea8171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2967e243594485" /><Relationship Type="http://schemas.openxmlformats.org/officeDocument/2006/relationships/slideLayout" Target="/ppt/slideLayouts/slideLayout1.xml" Id="Rcdd9edfe2782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9edfe2782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e3183ed964d93" /><Relationship Type="http://schemas.openxmlformats.org/officeDocument/2006/relationships/notesSlide" Target="/ppt/notesSlides/notesSlide1.xml" Id="R7923a430275143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38f09563f46e9" /><Relationship Type="http://schemas.openxmlformats.org/officeDocument/2006/relationships/notesSlide" Target="/ppt/notesSlides/notesSlide2.xml" Id="Rdab4751d9a704b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d0c1f44e747dc" /><Relationship Type="http://schemas.openxmlformats.org/officeDocument/2006/relationships/notesSlide" Target="/ppt/notesSlides/notesSlide3.xml" Id="Rd20fdd81beba4e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BE49C-BA94-495B-A12C-F43A8EFC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70B"/>
          </a:solidFill>
          <a:ln xmlns:a="http://schemas.openxmlformats.org/drawingml/2006/main" w="0">
            <a:solidFill>
              <a:srgbClr val="D96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0461D-9920-485E-9FDD-2B3A1A6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67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70B"/>
                </a:solidFill>
                <a:latin typeface="Arial"/>
                <a:ea typeface="Arial"/>
                <a:cs typeface="Arial"/>
              </a:rPr>
              <a:t>INVISIBLE INVADERS | SCIENTIST CIRCLE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6D0AE-3D07-4C95-ADF6-0E1E7B22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64F"/>
                </a:solidFill>
                <a:latin typeface="Arial"/>
                <a:ea typeface="Arial"/>
                <a:cs typeface="Arial"/>
              </a:rPr>
              <a:t>Test the claim before we accept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B2A71-EF23-453E-8FE6-0D07B9D8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0001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BE8E9"/>
          </a:solidFill>
          <a:ln xmlns:a="http://schemas.openxmlformats.org/drawingml/2006/main" w="19050">
            <a:solidFill>
              <a:srgbClr val="C94D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060D2-2525-43AA-BC43-265BC80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“All microplastics are invisible.”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BD492-AF6F-4613-8D20-07010F1B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64F"/>
                </a:solidFill>
                <a:latin typeface="Arial"/>
                <a:ea typeface="Arial"/>
                <a:cs typeface="Arial"/>
              </a:rPr>
              <a:t>AGREE     |     DISAGREE     |     NOT SURE YET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483A1-C1B1-41C1-929C-28AA446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000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3F1F8"/>
          </a:solidFill>
          <a:ln xmlns:a="http://schemas.openxmlformats.org/drawingml/2006/main" w="19050">
            <a:solidFill>
              <a:srgbClr val="2F7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D51C3-CDA9-406C-80E7-EE0E03F3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483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64F"/>
                </a:solidFill>
                <a:latin typeface="Arial"/>
                <a:ea typeface="Arial"/>
                <a:cs typeface="Arial"/>
              </a:rPr>
              <a:t>What evidence would help us decide?</a:t>
            </a:r>
          </a:p>
        </p:txBody>
      </p:sp>
    </p:spTree>
    <p:extLst>
      <p:ext uri="{BB962C8B-B14F-4D97-AF65-F5344CB8AC3E}">
        <p14:creationId xmlns:p14="http://schemas.microsoft.com/office/powerpoint/2010/main" val="961848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14B2B-F961-401E-AE3C-9C5AA7A2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70B"/>
          </a:solidFill>
          <a:ln xmlns:a="http://schemas.openxmlformats.org/drawingml/2006/main" w="0">
            <a:solidFill>
              <a:srgbClr val="D96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6D38C-1FC7-451C-AC44-A76C6068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67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70B"/>
                </a:solidFill>
                <a:latin typeface="Arial"/>
                <a:ea typeface="Arial"/>
                <a:cs typeface="Arial"/>
              </a:rPr>
              <a:t>INVISIBLE INVADERS | IMPOSSIBLE CUT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EAE7B-A580-42B5-9DB8-D9D3378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64F"/>
                </a:solidFill>
                <a:latin typeface="Arial"/>
                <a:ea typeface="Arial"/>
                <a:cs typeface="Arial"/>
              </a:rPr>
              <a:t>Microplastics are smaller than 5 millimeters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64030-88B3-4E65-A0F4-07B5EC54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471"/>
                </a:solidFill>
                <a:latin typeface="Arial"/>
                <a:ea typeface="Arial"/>
                <a:cs typeface="Arial"/>
              </a:rPr>
              <a:t>Our classroom tools can show some sizes. Smaller scales require different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53261-A015-466F-8F02-E8027AC6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3F1F8"/>
          </a:solidFill>
          <a:ln xmlns:a="http://schemas.openxmlformats.org/drawingml/2006/main" w="19050">
            <a:solidFill>
              <a:srgbClr val="2F7E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C4903-1BBE-4A52-8942-DB1955B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7EA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7EAA"/>
                </a:solidFill>
                <a:latin typeface="Arial"/>
                <a:ea typeface="Arial"/>
                <a:cs typeface="Arial"/>
              </a:rPr>
              <a:t>1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904EF-AFAB-4425-BE53-22E4E174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364F"/>
                </a:solidFill>
                <a:latin typeface="Arial"/>
                <a:ea typeface="Arial"/>
                <a:cs typeface="Arial"/>
              </a:rPr>
              <a:t>meter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F5C19-6CA7-4388-B67D-CF277987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241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4EA"/>
          </a:solidFill>
          <a:ln xmlns:a="http://schemas.openxmlformats.org/drawingml/2006/main" w="19050">
            <a:solidFill>
              <a:srgbClr val="3F9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0D435-DC96-4634-8047-748071AE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05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F99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F9968"/>
                </a:solidFill>
                <a:latin typeface="Arial"/>
                <a:ea typeface="Arial"/>
                <a:cs typeface="Arial"/>
              </a:rPr>
              <a:t>10 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0B5B5-F530-4E93-9799-2CF8C946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364F"/>
                </a:solidFill>
                <a:latin typeface="Arial"/>
                <a:ea typeface="Arial"/>
                <a:cs typeface="Arial"/>
              </a:rPr>
              <a:t>centimeter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47946-CCEF-4EE9-9187-2007AD21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19050">
            <a:solidFill>
              <a:srgbClr val="E9B9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D3C28-BF81-470F-84A0-B6198ECF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05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9B9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9B936"/>
                </a:solidFill>
                <a:latin typeface="Arial"/>
                <a:ea typeface="Arial"/>
                <a:cs typeface="Arial"/>
              </a:rPr>
              <a:t>1 cm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A5326-5BB3-435A-9278-D33906A5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364F"/>
                </a:solidFill>
                <a:latin typeface="Arial"/>
                <a:ea typeface="Arial"/>
                <a:cs typeface="Arial"/>
              </a:rPr>
              <a:t>centimeter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0BA6F-4B4F-4029-B526-661AD0E9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241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D967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6B0B7-152A-4A2B-B3C3-7C919D53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670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70B"/>
                </a:solidFill>
                <a:latin typeface="Arial"/>
                <a:ea typeface="Arial"/>
                <a:cs typeface="Arial"/>
              </a:rPr>
              <a:t>5 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98DB4-65CD-4C0E-A306-04B63BE7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6364F"/>
                </a:solidFill>
                <a:latin typeface="Arial"/>
                <a:ea typeface="Arial"/>
                <a:cs typeface="Arial"/>
              </a:rPr>
              <a:t>microplastic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078EE-BB41-4395-85C2-6032A38F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241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E8E9"/>
          </a:solidFill>
          <a:ln xmlns:a="http://schemas.openxmlformats.org/drawingml/2006/main" w="19050">
            <a:solidFill>
              <a:srgbClr val="C94D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8F024-78AB-4917-AB0A-B4AB28B9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1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61EA1-F698-40B4-9252-BC761003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364F"/>
                </a:solidFill>
                <a:latin typeface="Arial"/>
                <a:ea typeface="Arial"/>
                <a:cs typeface="Arial"/>
              </a:rPr>
              <a:t>millimeter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DC6E3-2DCB-45CF-90E1-5CA263BE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241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E9F7"/>
          </a:solidFill>
          <a:ln xmlns:a="http://schemas.openxmlformats.org/drawingml/2006/main" w="19050">
            <a:solidFill>
              <a:srgbClr val="7850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603D0-1CA6-47DF-AAF6-AEDC0BD7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05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7850A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850A1"/>
                </a:solidFill>
                <a:latin typeface="Arial"/>
                <a:ea typeface="Arial"/>
                <a:cs typeface="Arial"/>
              </a:rPr>
              <a:t>1 µm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ABE71-A950-4397-BE88-C41D993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6364F"/>
                </a:solidFill>
                <a:latin typeface="Arial"/>
                <a:ea typeface="Arial"/>
                <a:cs typeface="Arial"/>
              </a:rPr>
              <a:t>micrometer</a:t>
            </a:r>
          </a:p>
        </p:txBody>
      </p:sp>
      <p:cxnSp>
        <p:nvCxnSpPr>
          <p:cNvPr id="5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32385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6471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52900" y="32385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6471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19800" y="32385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6471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86700" y="32385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6471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753600" y="32385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6471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1F79E-B066-425D-B14A-8AC4AD32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16471"/>
                </a:solidFill>
                <a:latin typeface="Arial"/>
                <a:ea typeface="Arial"/>
                <a:cs typeface="Arial"/>
              </a:rPr>
              <a:t>NOT TO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926F19-13C5-4889-B86E-DAAF10CA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4EA"/>
          </a:solidFill>
          <a:ln xmlns:a="http://schemas.openxmlformats.org/drawingml/2006/main" w="19050">
            <a:solidFill>
              <a:srgbClr val="3F99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41813-2FA8-41F4-9AF2-58DD4749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577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57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F99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F9968"/>
                </a:solidFill>
                <a:latin typeface="Arial"/>
                <a:ea typeface="Arial"/>
                <a:cs typeface="Arial"/>
              </a:rPr>
              <a:t>Some microplastics are visible. Others need magnification or laboratory instruments.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B5364B-7165-4E27-A9C9-BE3FA290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F1F8"/>
          </a:solidFill>
          <a:ln xmlns:a="http://schemas.openxmlformats.org/drawingml/2006/main" w="19050">
            <a:solidFill>
              <a:srgbClr val="2F7E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CF1E1-D8F9-4C15-8D26-B9AE6358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959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64F"/>
                </a:solidFill>
                <a:latin typeface="Arial"/>
                <a:ea typeface="Arial"/>
                <a:cs typeface="Arial"/>
              </a:rPr>
              <a:t>What becomes harder to measure or notice as the scale gets smaller?</a:t>
            </a:r>
          </a:p>
        </p:txBody>
      </p:sp>
    </p:spTree>
    <p:extLst>
      <p:ext uri="{BB962C8B-B14F-4D97-AF65-F5344CB8AC3E}">
        <p14:creationId xmlns:p14="http://schemas.microsoft.com/office/powerpoint/2010/main" val="1140289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1E164-4974-4963-80FE-1441F65B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70B"/>
          </a:solidFill>
          <a:ln xmlns:a="http://schemas.openxmlformats.org/drawingml/2006/main" w="0">
            <a:solidFill>
              <a:srgbClr val="D96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A0AA8-8E8D-43C4-A593-1284BC5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67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70B"/>
                </a:solidFill>
                <a:latin typeface="Arial"/>
                <a:ea typeface="Arial"/>
                <a:cs typeface="Arial"/>
              </a:rPr>
              <a:t>INVISIBLE INVADERS | ESCAPE THE WIND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76FAA-E2F7-4314-BC55-EAC0DFF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64F"/>
                </a:solidFill>
                <a:latin typeface="Arial"/>
                <a:ea typeface="Arial"/>
                <a:cs typeface="Arial"/>
              </a:rPr>
              <a:t>Moving air can carry lightweight pieces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403E7-E48B-4745-A5A9-BE7AF1C9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471"/>
                </a:solidFill>
                <a:latin typeface="Arial"/>
                <a:ea typeface="Arial"/>
                <a:cs typeface="Arial"/>
              </a:rPr>
              <a:t>Move at least half of the paper pieces across the boundary without touching them with your hands.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57EA9-2C30-49FA-8ECC-8766022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E9F7"/>
          </a:solidFill>
          <a:ln xmlns:a="http://schemas.openxmlformats.org/drawingml/2006/main" w="19050">
            <a:solidFill>
              <a:srgbClr val="7850A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E7E17-58DA-4F66-924B-E3F619B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3F1F8"/>
          </a:solidFill>
          <a:ln xmlns:a="http://schemas.openxmlformats.org/drawingml/2006/main" w="19050">
            <a:solidFill>
              <a:srgbClr val="2F7E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2319F-0A69-499B-8393-3A2ACE21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19050">
            <a:solidFill>
              <a:srgbClr val="E9B936"/>
            </a:solidFill>
            <a:prstDash val="solid"/>
          </a:ln>
        </p:spPr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3337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7850A1"/>
            </a:solidFill>
            <a:prstDash val="solid"/>
            <a:tailEnd type="arrow" w="lg" len="lg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86625" y="33337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F7EAA"/>
            </a:solidFill>
            <a:prstDash val="solid"/>
            <a:tailEnd type="arrow" w="lg" len="lg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C891F-F335-42E1-99C0-CDB5011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850A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0A1"/>
                </a:solidFill>
                <a:latin typeface="Arial"/>
                <a:ea typeface="Arial"/>
                <a:cs typeface="Arial"/>
              </a:rPr>
              <a:t>CARDBOARD</a:t>
            </a:r>
          </a:p>
          <a:p xmlns:a="http://schemas.openxmlformats.org/drawingml/2006/main">
            <a:pPr algn="ctr">
              <a:defRPr sz="2025" b="1">
                <a:solidFill>
                  <a:srgbClr val="7850A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0A1"/>
                </a:solidFill>
                <a:latin typeface="Arial"/>
                <a:ea typeface="Arial"/>
                <a:cs typeface="Arial"/>
              </a:rPr>
              <a:t>OR PAPER 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65397-3FC4-482C-99BE-14949FE9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7E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7EAA"/>
                </a:solidFill>
                <a:latin typeface="Arial"/>
                <a:ea typeface="Arial"/>
                <a:cs typeface="Arial"/>
              </a:rPr>
              <a:t>MOVING</a:t>
            </a:r>
          </a:p>
          <a:p xmlns:a="http://schemas.openxmlformats.org/drawingml/2006/main">
            <a:pPr algn="ctr">
              <a:defRPr sz="2325" b="1">
                <a:solidFill>
                  <a:srgbClr val="2F7E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7EAA"/>
                </a:solidFill>
                <a:latin typeface="Arial"/>
                <a:ea typeface="Arial"/>
                <a:cs typeface="Arial"/>
              </a:rPr>
              <a:t>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0FF26-1FC4-4534-938F-71CF25A3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A72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7200"/>
                </a:solidFill>
                <a:latin typeface="Arial"/>
                <a:ea typeface="Arial"/>
                <a:cs typeface="Arial"/>
              </a:rPr>
              <a:t>LIGHTWEIGHT</a:t>
            </a:r>
          </a:p>
          <a:p xmlns:a="http://schemas.openxmlformats.org/drawingml/2006/main">
            <a:pPr algn="ctr">
              <a:defRPr sz="2025" b="1">
                <a:solidFill>
                  <a:srgbClr val="9A72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7200"/>
                </a:solidFill>
                <a:latin typeface="Arial"/>
                <a:ea typeface="Arial"/>
                <a:cs typeface="Arial"/>
              </a:rPr>
              <a:t>PAPER PROXIES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2A8BE-BC30-4080-A75B-C234AF35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8E9"/>
          </a:solidFill>
          <a:ln xmlns:a="http://schemas.openxmlformats.org/drawingml/2006/main" w="19050">
            <a:solidFill>
              <a:srgbClr val="C94D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6B42C-2839-40A1-BD48-D3D45FF7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The paper pieces are a transport model. They are not microplastic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72EB2-9FD3-4D3E-AF7D-2B629AD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4EA"/>
          </a:solidFill>
          <a:ln xmlns:a="http://schemas.openxmlformats.org/drawingml/2006/main" w="19050">
            <a:solidFill>
              <a:srgbClr val="3F99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C8F7E-29A7-4422-80AD-D856429F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1005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36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64F"/>
                </a:solidFill>
                <a:latin typeface="Arial"/>
                <a:ea typeface="Arial"/>
                <a:cs typeface="Arial"/>
              </a:rPr>
              <a:t>If moving air can carry lightweight pieces, what might moving water do?</a:t>
            </a:r>
          </a:p>
        </p:txBody>
      </p:sp>
    </p:spTree>
    <p:extLst>
      <p:ext uri="{BB962C8B-B14F-4D97-AF65-F5344CB8AC3E}">
        <p14:creationId xmlns:p14="http://schemas.microsoft.com/office/powerpoint/2010/main" val="1777952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2026-07-26T21:03:15.6230000Z</dcterms:created>
  <dcterms:modified xsi:type="dcterms:W3CDTF">2026-07-26T21:03:15.6230000Z</dcterms:modified>
</coreProperties>
</file>