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MP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53796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6539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REAL! SCIENCE CAMP  |  INVISIBLE INVADERS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784080" y="6565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Piter + Aastha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Researchers, come investigate!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solve a model sand case, collect real evidence, and leave one question for camp.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DDF3E7"/>
          </a:solidFill>
          <a:ln w="12700">
            <a:solidFill>
              <a:srgbClr val="DDF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5564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242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46504"/>
            <a:ext cx="161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</a:rPr>
              <a:t>CASE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80360" y="1901952"/>
            <a:ext cx="347472" cy="32004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60020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75564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242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0" y="1746504"/>
            <a:ext cx="161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PREDICT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1901952"/>
            <a:ext cx="347472" cy="320040"/>
          </a:xfrm>
          <a:prstGeom prst="chevron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60020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75564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8242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A6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03720" y="1746504"/>
            <a:ext cx="161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A6"/>
                </a:solidFill>
              </a:rPr>
              <a:t>LOOK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41080" y="1901952"/>
            <a:ext cx="347472" cy="320040"/>
          </a:xfrm>
          <a:prstGeom prst="chevron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60020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F7DEF1"/>
          </a:solidFill>
          <a:ln w="12700">
            <a:solidFill>
              <a:srgbClr val="F7DE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75564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8242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12A87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84080" y="1746504"/>
            <a:ext cx="161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12A87"/>
                </a:solidFill>
              </a:rPr>
              <a:t>MAGNIFY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283464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FDE8E5"/>
          </a:solidFill>
          <a:ln w="12700">
            <a:solidFill>
              <a:srgbClr val="FDE8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990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0586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3B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2980944"/>
            <a:ext cx="161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2413B"/>
                </a:solidFill>
              </a:rPr>
              <a:t>MATCH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880360" y="3136392"/>
            <a:ext cx="347472" cy="320040"/>
          </a:xfrm>
          <a:prstGeom prst="chevron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83464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990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0586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023360" y="2980944"/>
            <a:ext cx="161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SAMPLE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60720" y="3136392"/>
            <a:ext cx="347472" cy="32004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2834640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2990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0586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2980944"/>
            <a:ext cx="161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WONDER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" y="4892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892040"/>
            <a:ext cx="82296" cy="960120"/>
          </a:xfrm>
          <a:prstGeom prst="rect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5001768"/>
            <a:ext cx="10570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Choose a route: point, draw, speak, write, photograph, work with a partner, ask us to write, or pass and join later.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fictional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mystery gives us a known answer. Real beach evidence will stay open until we investigate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834640" cy="3429000"/>
          </a:xfrm>
          <a:prstGeom prst="roundRect">
            <a:avLst>
              <a:gd name="adj" fmla="val 2581"/>
            </a:avLst>
          </a:prstGeom>
          <a:solidFill>
            <a:srgbClr val="DDF3E7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011680"/>
            <a:ext cx="17373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4752" y="2258568"/>
            <a:ext cx="914400" cy="5029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258568" y="2350008"/>
            <a:ext cx="292608" cy="228600"/>
          </a:xfrm>
          <a:prstGeom prst="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MODEL BIRD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+ SEALED SAND CLUE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11880" y="2834640"/>
            <a:ext cx="640080" cy="32004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11096"/>
            <a:ext cx="1600200" cy="2112264"/>
          </a:xfrm>
          <a:prstGeom prst="roundRect">
            <a:avLst>
              <a:gd name="adj" fmla="val 2857"/>
            </a:avLst>
          </a:prstGeom>
          <a:solidFill>
            <a:srgbClr val="F8FAFC">
              <a:alpha val="92000"/>
            </a:srgbClr>
          </a:solidFill>
          <a:ln w="27940">
            <a:solidFill>
              <a:srgbClr val="2563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691640"/>
            <a:ext cx="1289304" cy="256032"/>
          </a:xfrm>
          <a:prstGeom prst="rect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4690872" y="3218688"/>
            <a:ext cx="1453896" cy="640080"/>
          </a:xfrm>
          <a:prstGeom prst="arc">
            <a:avLst/>
          </a:prstGeom>
          <a:solidFill>
            <a:srgbClr val="E9D8A6"/>
          </a:solidFill>
          <a:ln w="12700">
            <a:solidFill>
              <a:srgbClr val="B89B5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65776" y="2717597"/>
            <a:ext cx="176022" cy="209855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29834" y="3160624"/>
            <a:ext cx="128016" cy="163220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40873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Durand reference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2651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48B"/>
                </a:solidFill>
              </a:rPr>
              <a:t>OR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95160" y="1911096"/>
            <a:ext cx="1600200" cy="2112264"/>
          </a:xfrm>
          <a:prstGeom prst="roundRect">
            <a:avLst>
              <a:gd name="adj" fmla="val 2857"/>
            </a:avLst>
          </a:prstGeom>
          <a:solidFill>
            <a:srgbClr val="F8FAFC">
              <a:alpha val="92000"/>
            </a:srgbClr>
          </a:solidFill>
          <a:ln w="27940">
            <a:solidFill>
              <a:srgbClr val="A12A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0608" y="1691640"/>
            <a:ext cx="1289304" cy="256032"/>
          </a:xfrm>
          <a:prstGeom prst="rect">
            <a:avLst/>
          </a:prstGeom>
          <a:solidFill>
            <a:srgbClr val="A12A87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7068312" y="3218688"/>
            <a:ext cx="1453896" cy="640080"/>
          </a:xfrm>
          <a:prstGeom prst="arc">
            <a:avLst/>
          </a:prstGeom>
          <a:solidFill>
            <a:srgbClr val="E9D8A6"/>
          </a:solidFill>
          <a:ln w="12700">
            <a:solidFill>
              <a:srgbClr val="B89B5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500000">
            <a:off x="7315200" y="3044038"/>
            <a:ext cx="288036" cy="104927"/>
          </a:xfrm>
          <a:prstGeom prst="rect">
            <a:avLst/>
          </a:prstGeom>
          <a:solidFill>
            <a:srgbClr val="A12A87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1800000">
            <a:off x="7971282" y="2694280"/>
            <a:ext cx="192024" cy="116586"/>
          </a:xfrm>
          <a:prstGeom prst="rect">
            <a:avLst/>
          </a:prstGeom>
          <a:solidFill>
            <a:srgbClr val="A12A87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15250" y="3370478"/>
            <a:ext cx="128016" cy="186538"/>
          </a:xfrm>
          <a:prstGeom prst="ellipse">
            <a:avLst/>
          </a:prstGeom>
          <a:solidFill>
            <a:srgbClr val="A12A87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40873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Ontario reference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0" y="44348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Which reference sample best matches the clue?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79408" y="160020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FDE8E5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79408" y="1600200"/>
            <a:ext cx="82296" cy="342900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1709928"/>
            <a:ext cx="2295144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EVIDENCE LIMIT: This is a fictional model case. It does not report a real injured bird, prove why an animal needed care, or confirm that a visible fragment is plastic.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→ During → After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a perfect first guess. The goal is to notice, compare, and revise with evidence.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46120" cy="4069080"/>
          </a:xfrm>
          <a:prstGeom prst="roundRect">
            <a:avLst>
              <a:gd name="adj" fmla="val 2254"/>
            </a:avLst>
          </a:prstGeom>
          <a:solidFill>
            <a:srgbClr val="FFF0C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BEFORE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0976" y="267004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7477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6151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Predict what you will notice first.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0976" y="349300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5707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34381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Circle your confidence.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0976" y="431596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3936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4261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Say, draw, point, or ask for a scribe.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95928" y="3401568"/>
            <a:ext cx="384048" cy="320040"/>
          </a:xfrm>
          <a:prstGeom prst="chevron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554480"/>
            <a:ext cx="3246120" cy="4069080"/>
          </a:xfrm>
          <a:prstGeom prst="roundRect">
            <a:avLst>
              <a:gd name="adj" fmla="val 2254"/>
            </a:avLst>
          </a:prstGeom>
          <a:solidFill>
            <a:srgbClr val="DDEEFF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874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A6"/>
                </a:solidFill>
              </a:rPr>
              <a:t>DURING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745736" y="2670048"/>
            <a:ext cx="384048" cy="384048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27477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6151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Look without magnification.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45736" y="3493008"/>
            <a:ext cx="384048" cy="384048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35707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4381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Count visible proxy pieces.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45736" y="4315968"/>
            <a:ext cx="384048" cy="384048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43936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4261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Magnify and record what changes.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90688" y="3401568"/>
            <a:ext cx="384048" cy="320040"/>
          </a:xfrm>
          <a:prstGeom prst="chevron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1554480"/>
            <a:ext cx="3246120" cy="4069080"/>
          </a:xfrm>
          <a:prstGeom prst="roundRect">
            <a:avLst>
              <a:gd name="adj" fmla="val 2254"/>
            </a:avLst>
          </a:prstGeom>
          <a:solidFill>
            <a:srgbClr val="F7DEF1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1874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12A87"/>
                </a:solidFill>
              </a:rPr>
              <a:t>AFTER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540496" y="2670048"/>
            <a:ext cx="384048" cy="384048"/>
          </a:xfrm>
          <a:prstGeom prst="ellipse">
            <a:avLst/>
          </a:prstGeom>
          <a:solidFill>
            <a:srgbClr val="A12A87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0496" y="27477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52560" y="26151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Compare both site records.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40496" y="3493008"/>
            <a:ext cx="384048" cy="384048"/>
          </a:xfrm>
          <a:prstGeom prst="ellipse">
            <a:avLst/>
          </a:prstGeom>
          <a:solidFill>
            <a:srgbClr val="A12A87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0496" y="35707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052560" y="34381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Match the mystery clue.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40496" y="4315968"/>
            <a:ext cx="384048" cy="384048"/>
          </a:xfrm>
          <a:prstGeom prst="ellipse">
            <a:avLst/>
          </a:prstGeom>
          <a:solidFill>
            <a:srgbClr val="A12A87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0496" y="43936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52560" y="4261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Revise your claim and name a limit.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the evidence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match should use more than one feature. Keep the observations separate from the conclusion.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E2E8F0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6420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FEATURE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70632" y="15087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DDEEFF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43784" y="166420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A6"/>
                </a:solidFill>
              </a:rPr>
              <a:t>DURAND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9824" y="15087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7DEF1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22976" y="166420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A87"/>
                </a:solidFill>
              </a:rPr>
              <a:t>ONTARIO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9016" y="1508760"/>
            <a:ext cx="3246120" cy="594360"/>
          </a:xfrm>
          <a:prstGeom prst="roundRect">
            <a:avLst>
              <a:gd name="adj" fmla="val 12308"/>
            </a:avLst>
          </a:prstGeom>
          <a:solidFill>
            <a:srgbClr val="DDF3E7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68" y="166420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55A"/>
                </a:solidFill>
              </a:rPr>
              <a:t>MYSTERY CLUE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167128"/>
            <a:ext cx="210312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225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Grain color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70632" y="2167128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3512" y="23134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9824" y="2167128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2704" y="23134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9016" y="2167128"/>
            <a:ext cx="3246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23134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2825496"/>
            <a:ext cx="210312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9809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Grain size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70632" y="2825496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3512" y="29718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9824" y="2825496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2704" y="29718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29016" y="2825496"/>
            <a:ext cx="3246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11896" y="297180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3483864"/>
            <a:ext cx="210312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Visible proxy count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770632" y="3483864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36301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49824" y="3483864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32704" y="36301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29016" y="3483864"/>
            <a:ext cx="3246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11896" y="363016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4142232"/>
            <a:ext cx="210312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Magnified proxy count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770632" y="4142232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53512" y="42885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49824" y="4142232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32704" y="42885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29016" y="4142232"/>
            <a:ext cx="3246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11896" y="42885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" y="4800600"/>
            <a:ext cx="210312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956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Other pattern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770632" y="4800600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3512" y="49469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49824" y="4800600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32704" y="49469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129016" y="4800600"/>
            <a:ext cx="3246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11896" y="494690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record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143000" y="5532120"/>
            <a:ext cx="9784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3000" y="5532120"/>
            <a:ext cx="82296" cy="6583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44168" y="5641848"/>
            <a:ext cx="9473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Claim = best match. Evidence = the features that support it. Limit = what the model cannot tell us.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evidence language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sentence starters keep observation, inference, and uncertainty from blending together.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DDEEFF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A6"/>
                </a:solidFill>
              </a:rPr>
              <a:t>I NOTICED ...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9848" y="2743200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</a:rPr>
              <a:t>What I saw, counted, or measured.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160020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0C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9659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</a:rPr>
              <a:t>I THINK ...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864608" y="2743200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</a:rPr>
              <a:t>My explanation or best match.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75320" y="160020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7DEF1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9659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12A87"/>
                </a:solidFill>
              </a:rPr>
              <a:t>WE STILL NEED ...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59368" y="2743200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</a:rPr>
              <a:t>Evidence that could confirm or challenge the claim.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5074920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FDE8E5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5074920"/>
            <a:ext cx="82296" cy="82296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5184648"/>
            <a:ext cx="9930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A visually suspected fiber or fragment is not chemically confirmed plastic. Careful uncertainty is part of good science.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a real sand sample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pair uses the same method so our samples remain traceable and comparable.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737360"/>
            <a:ext cx="566928" cy="5669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8608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35608" y="1700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CHOOSE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Choose and name the site.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1737360"/>
            <a:ext cx="566928" cy="566928"/>
          </a:xfrm>
          <a:prstGeom prst="ellipse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8608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76088" y="1700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3B"/>
                </a:solidFill>
              </a:rPr>
              <a:t>FRAME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7608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Place the red square.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75320" y="15544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1624" y="1737360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18608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16568" y="1700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SCOOP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1656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Collect the top 1/2 inch.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297180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" y="3154680"/>
            <a:ext cx="566928" cy="566928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27812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35608" y="31181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A6"/>
                </a:solidFill>
              </a:rPr>
              <a:t>SEAL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35608" y="34107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Close the jar before moving.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297180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3154680"/>
            <a:ext cx="566928" cy="566928"/>
          </a:xfrm>
          <a:prstGeom prst="ellipse">
            <a:avLst/>
          </a:prstGeom>
          <a:solidFill>
            <a:srgbClr val="A12A87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327812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76088" y="31181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2A87"/>
                </a:solidFill>
              </a:rPr>
              <a:t>LABEL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76088" y="34107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Pair + site + time.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75320" y="297180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1624" y="315468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21624" y="327812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16568" y="31181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MAP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16568" y="34107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Draw or mark the location.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60120" y="4846320"/>
            <a:ext cx="10195560" cy="932688"/>
          </a:xfrm>
          <a:prstGeom prst="roundRect">
            <a:avLst>
              <a:gd name="adj" fmla="val 7843"/>
            </a:avLst>
          </a:prstGeom>
          <a:solidFill>
            <a:srgbClr val="FDE8E5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" y="4846320"/>
            <a:ext cx="82296" cy="932688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61288" y="4956048"/>
            <a:ext cx="9884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STOP: Do not add salt water at the beach. Keep every field sample sealed and separate. We will process each sample in its own labeled container.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your science role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can change. No role owns the science, and every role can add evidence.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395728" cy="877824"/>
          </a:xfrm>
          <a:prstGeom prst="roundRect">
            <a:avLst>
              <a:gd name="adj" fmla="val 8333"/>
            </a:avLst>
          </a:prstGeom>
          <a:solidFill>
            <a:srgbClr val="DDF3E7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855A"/>
                </a:solidFill>
              </a:rPr>
              <a:t>OBSERVER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93008" y="1554480"/>
            <a:ext cx="2395728" cy="877824"/>
          </a:xfrm>
          <a:prstGeom prst="roundRect">
            <a:avLst>
              <a:gd name="adj" fmla="val 8333"/>
            </a:avLst>
          </a:prstGeom>
          <a:solidFill>
            <a:srgbClr val="FFF0C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0168" y="18288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06"/>
                </a:solidFill>
              </a:rPr>
              <a:t>SAMPLER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45936" y="1554480"/>
            <a:ext cx="2395728" cy="877824"/>
          </a:xfrm>
          <a:prstGeom prst="roundRect">
            <a:avLst>
              <a:gd name="adj" fmla="val 8333"/>
            </a:avLst>
          </a:prstGeom>
          <a:solidFill>
            <a:srgbClr val="DDEEFF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3096" y="18288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A6"/>
                </a:solidFill>
              </a:rPr>
              <a:t>LABELER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98864" y="1554480"/>
            <a:ext cx="2395728" cy="877824"/>
          </a:xfrm>
          <a:prstGeom prst="roundRect">
            <a:avLst>
              <a:gd name="adj" fmla="val 8333"/>
            </a:avLst>
          </a:prstGeom>
          <a:solidFill>
            <a:srgbClr val="F7DEF1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36024" y="18288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12A87"/>
                </a:solidFill>
              </a:rPr>
              <a:t>MAPPER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2395728" cy="877824"/>
          </a:xfrm>
          <a:prstGeom prst="roundRect">
            <a:avLst>
              <a:gd name="adj" fmla="val 8333"/>
            </a:avLst>
          </a:prstGeom>
          <a:solidFill>
            <a:srgbClr val="FDE8E5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632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3B"/>
                </a:solidFill>
              </a:rPr>
              <a:t>PHOTOGRAPHER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93008" y="2788920"/>
            <a:ext cx="2395728" cy="877824"/>
          </a:xfrm>
          <a:prstGeom prst="roundRect">
            <a:avLst>
              <a:gd name="adj" fmla="val 8333"/>
            </a:avLst>
          </a:prstGeom>
          <a:solidFill>
            <a:srgbClr val="DDF5F2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30632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RECORDER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45936" y="2788920"/>
            <a:ext cx="2395728" cy="877824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30632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155"/>
                </a:solidFill>
              </a:rPr>
              <a:t>MATERIALS MONITOR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98864" y="2788920"/>
            <a:ext cx="2395728" cy="877824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6024" y="30632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SEATED COORDINATOR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4251960"/>
            <a:ext cx="10652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251960"/>
            <a:ext cx="82296" cy="1097280"/>
          </a:xfrm>
          <a:prstGeom prst="rect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361688"/>
            <a:ext cx="10341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You may look, point, draw, speak, write, photograph, dictate, use home language, work with a partner, choose a low-energy role, or pass and re-enter.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5532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Our goal is the same: observe, compare, name uncertainty, and ask a useful question.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Leave one question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 opens the mystery. Camp week adds evidence and revises the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4846320" cy="1874520"/>
          </a:xfrm>
          <a:prstGeom prst="roundRect">
            <a:avLst>
              <a:gd name="adj" fmla="val 3902"/>
            </a:avLst>
          </a:prstGeom>
          <a:solidFill>
            <a:srgbClr val="DDF3E7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55A"/>
                </a:solidFill>
              </a:rPr>
              <a:t>ANCHOR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160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Humans aren't trash cans, but we have plastics in our bodies.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715000" y="1463040"/>
            <a:ext cx="5852160" cy="1874520"/>
          </a:xfrm>
          <a:prstGeom prst="roundRect">
            <a:avLst>
              <a:gd name="adj" fmla="val 3902"/>
            </a:avLst>
          </a:prstGeom>
          <a:solidFill>
            <a:srgbClr val="FFF0C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755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DRIVING QUESTION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20848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How does plastic break into tiny pieces, move through the environment and into living bodies, and how can we stop it fairly?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Choose one question to leave for Monday: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" y="4187952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1056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What might a first look miss?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" y="459943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5171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How could plastic move through connected systems?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" y="5010912"/>
            <a:ext cx="219456" cy="219456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9286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What evidence would confirm a suspected particle?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" y="5422392"/>
            <a:ext cx="219456" cy="219456"/>
          </a:xfrm>
          <a:prstGeom prst="ellipse">
            <a:avLst/>
          </a:prstGeom>
          <a:solidFill>
            <a:srgbClr val="A12A87"/>
          </a:solidFill>
          <a:ln w="12700">
            <a:solidFill>
              <a:srgbClr val="A12A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3400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Where could a fair change interrupt the pathway?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365760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DDEEFF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959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A6"/>
                </a:solidFill>
              </a:rPr>
              <a:t>MONDAY PREVIEW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4434840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BRINE  →  SETTLE  →  TRANSFER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→  FILTER  →  DRY  →  INSPECT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29400" y="51755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34155"/>
                </a:solidFill>
              </a:rPr>
              <a:t>Suspected is not the same as confirmed.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475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University of Rochester - EDU 486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Invisible Invaders: Field Friday Visual Guide</dc:title>
  <dc:subject>Invisible Invaders Field Friday visual lesson guide</dc:subject>
  <dc:creator>Piter Garcia and Aastha</dc:creator>
  <cp:lastModifiedBy>Piter Garcia and Aastha</cp:lastModifiedBy>
  <cp:revision>1</cp:revision>
  <dcterms:created xsi:type="dcterms:W3CDTF">2026-07-23T18:20:47Z</dcterms:created>
  <dcterms:modified xsi:type="dcterms:W3CDTF">2026-07-23T18:20:47Z</dcterms:modified>
</cp:coreProperties>
</file>